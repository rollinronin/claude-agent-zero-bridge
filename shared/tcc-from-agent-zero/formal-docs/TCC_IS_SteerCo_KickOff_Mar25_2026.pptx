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3502152" cy="3200400"/>
          </a:xfrm>
          <a:prstGeom prst="rect">
            <a:avLst/>
          </a:prstGeom>
          <a:solidFill>
            <a:srgbClr val="0A1E3A"/>
          </a:solidFill>
          <a:ln w="12700">
            <a:solidFill>
              <a:srgbClr val="0A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65760"/>
            <a:ext cx="1645920" cy="1463040"/>
          </a:xfrm>
          <a:prstGeom prst="triangl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COUNCIL · METRO TRANSIT · INFORMATION SERVICES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IS Projects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— Inaugural Meeting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3657600" cy="2743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88036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0A2A5E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986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Expansion — IS Lead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55848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741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 / KVM — IS Coordination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31336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0D3B3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496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NG911 Refresh — IS Coordination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(Ptahmes Tat-Siaka)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4937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Senior PM / PMO — Metropolitan Council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0A1E3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788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3108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Carri Sampson — TCC Manager / Sponsor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34381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Chad Ladda — TCC Assistant Manager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37673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Gretchen White — IS Director / CIO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40965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Robert Rimstad — MT Engineering &amp; Construction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4256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MayAnn Severud — IS PMO Manager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7548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John Stefanko — IS Architecture Director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50840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Josh Alswager — IS Principal Specialist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54132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Antoinette Brasson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5742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PT — IS Senior PM (facilitating)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IS PMO · Metropolitan Council · Metro Transit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292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Kick Off · March 25,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43584"/>
            <a:ext cx="502920" cy="57607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53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52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52704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IS projects, IS PM role, why this SteerCo exists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32720" y="132588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0" y="133502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48256"/>
            <a:ext cx="502920" cy="57607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579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Expansion — IS Scope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3317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EBC Room 1007 buildout, PC refresh, construction dependency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332720" y="2130552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213969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52928"/>
            <a:ext cx="502920" cy="57607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626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2862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 Video Wall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136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scope, non-refundable commitment, BCA path, IS support gap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332720" y="2935224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0" y="29443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02736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657600"/>
            <a:ext cx="502920" cy="57607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67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666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Solacom NG911 Refresh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94106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strategic goal: full managed service, cloud-only, 24/7 disengagement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32720" y="3739896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0" y="374904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407408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462272"/>
            <a:ext cx="502920" cy="57607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5720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5840" y="4471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Governance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4745736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IS resources, conflict map, SteerCo cadence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332720" y="4544568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20" y="455371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5212080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5266944"/>
            <a:ext cx="502920" cy="576072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53766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05840" y="5276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Decisions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05840" y="555040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confirmation, endpoint resource, SteerCo actions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332720" y="534924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EBF4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32720" y="535838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— IS PMO · Metropolitan Council · Metro Transit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concurrent IS projects supporting TCC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EBF4FB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3749040" cy="54864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20700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2070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Expansion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673352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82496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owns full delivery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32304"/>
            <a:ext cx="82296" cy="82296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31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IS PCs — 30 consoles (2 each)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" y="2935224"/>
            <a:ext cx="82296" cy="82296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34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EBC temp ops: 16 PCs in Room 1007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" y="3438144"/>
            <a:ext cx="82296" cy="82296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37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Construction-gated schedule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941064"/>
            <a:ext cx="82296" cy="82296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0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CJIS certification required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114300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143000"/>
            <a:ext cx="37490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20700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2070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1261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 Video Wall / KVM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34840" y="1673352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1682496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Coordination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leads vendor engagement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62272" y="2432304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331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1 workstation, AV LAN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62272" y="2935224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834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issued March 26 — non-refundable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62272" y="3438144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337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BCA/CJIS approval required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62272" y="3941064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840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support gap to be resolved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75320" y="114300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1143000"/>
            <a:ext cx="3749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35640" y="120700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35640" y="12070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1261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Solacom NG911 Refresh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412480" y="1673352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1682496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Coordination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1248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Engineering leads RFP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39912" y="2432304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2331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managed solution only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39912" y="2935224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95360" y="2834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goal: eliminate Mitel dependency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39912" y="3438144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95360" y="3337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Alswager as IS rep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39912" y="3941064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0" y="3840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— FE schedule to 2027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5852160"/>
            <a:ext cx="11521440" cy="502920"/>
          </a:xfrm>
          <a:prstGeom prst="roundRect">
            <a:avLst>
              <a:gd name="adj" fmla="val 14545"/>
            </a:avLst>
          </a:prstGeom>
          <a:solidFill>
            <a:srgbClr val="FFF8EC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888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Construction Dependency (all three projects):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389120" y="58887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expected mid-late April 2026 · Construction Sep 2026 · 1:1 Slip Rule applies · IS cannot influence construction schedule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— IS PMO · Metropolitan Council · Metro Transit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EXPANSION — IS SCOPE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Lead · PC Refresh 30 Consoles · EBC Temporary 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5577840" cy="41148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DELIVERY SCOPE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007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EBC Room 1007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IS PCs across 8 stations (7 in Rm 1007 + 1 existing EBC)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switches + IS firewall + UPS in Room 1007. Power specs needed NOW.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723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CJIS Certification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826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Brown (LASO) assigned. BCA design proposal before occupancy.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2160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58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9684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CR-T01 (network), CR-T02 (PCs) required before any work begins.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0740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4439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Deployment Cycle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6542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imaging → Jacob Dada apps → TCC tech → operator-ready (cycle time TBD)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09320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1297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Final Space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5340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IS PCs across 30 consoles. Post-NTP, post-construction.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143000"/>
            <a:ext cx="57607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1664208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EDFB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1719072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72821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17007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Procurement GO/NO-GO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190195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424160" y="1755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194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EDFB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2249424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25856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22311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CJIS Scope Confirmed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24323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424160" y="2286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2724912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2779776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78892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2761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1007 Equipment Ready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58000" y="296265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424160" y="28163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3255264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3640" y="3310128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3192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0" y="3291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EBC PC Eval Units Ordered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0" y="34930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424160" y="33467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27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3785616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63640" y="3840480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384962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58000" y="3822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NTP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58000" y="40233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424160" y="3877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Mid-Late Apr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63640" y="4315968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63640" y="4370832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437997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858000" y="43525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EBC Operational (7 stations)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858000" y="45537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Target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424160" y="4407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63640" y="484632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63640" y="4901184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3640" y="491032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58000" y="48828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Space Clean-Room Ready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858000" y="508406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Gate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424160" y="4937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63640" y="5376672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63640" y="5431536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3640" y="544068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M-09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858000" y="54132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Go-Live — 30 Consoles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858000" y="561441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Gate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424160" y="5468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— IS PMO · Metropolitan Council · Metro Transit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0845"/>
          </a:solidFill>
          <a:ln w="12700">
            <a:solidFill>
              <a:srgbClr val="1A08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 VIDEO WALL / KVM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Coordination · POC committed · PO issued March 26,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749040" cy="5074920"/>
          </a:xfrm>
          <a:prstGeom prst="roundRect">
            <a:avLst>
              <a:gd name="adj" fmla="val 2439"/>
            </a:avLst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374904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704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IS DOING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2763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8249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190195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operator workstation POC. Dedicated AV LAN. Portable rack. Evaluate before 30-station full deployment.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58775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64261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CJIS/BCA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286207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design proposal required. IS Network produces network docs. Eric Brown (LASO) submits to BCA.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4787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60273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382219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LAN provisioning: VLAN, IGMP/multicast, QoS at Minneapolis TCC. Change request CR-V01 required.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50799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45628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" y="478231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on-site support 2 days. Aug–Sep 2026 target (after BCA approval ~Aug).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24528" y="1143000"/>
            <a:ext cx="3749040" cy="507492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4528" y="1143000"/>
            <a:ext cx="3749040" cy="38404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11704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5968" y="162763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168249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Non-refundable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190195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issued Mar 26. POC cost is committed. Go/no-go decision must be based on documented criteria — not sunk cost.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15968" y="258775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64261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Support Gap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286207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endpoint and voice teams likely lack VuWall skill set. Formal assessment needed before deployment.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15968" y="354787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60273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Schedule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382219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Network unavailable Apr–May. BCA submission June 2026. Approval ~Aug. Commissioning late Aug at earliest.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15968" y="450799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45628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Bluum Contract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478231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contract renewal did not materialize Mar–Apr 2026. Parallel paths: Bluum, SHI, co-op purchasing.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29016" y="1143000"/>
            <a:ext cx="3749040" cy="5074920"/>
          </a:xfrm>
          <a:prstGeom prst="roundRect">
            <a:avLst>
              <a:gd name="adj" fmla="val 243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29016" y="1143000"/>
            <a:ext cx="3749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38744" y="11704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0456" y="1627632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93608" y="168249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93608" y="187452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issued. Full technical engagement begins immediately.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20456" y="2340864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93608" y="23957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93608" y="258775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Network produces AV LAN design documentation for BCA.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0456" y="3054096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93608" y="31089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93608" y="330098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design proposal submitted (Eric Brown / LASO).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0456" y="3767328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93608" y="38221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93608" y="40142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approval expected (~8 weeks after submission).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20456" y="448056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93608" y="453542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293608" y="472744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pre-check, commissioning (2 days).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220456" y="5193792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93608" y="524865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Sep–Nov 2026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93608" y="5440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evaluation and go/no-go review.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— IS PMO · Metropolitan Council · Metro Transit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02B"/>
          </a:solidFill>
          <a:ln w="12700">
            <a:solidFill>
              <a:srgbClr val="0630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SOLACOM NG911 REFRESH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Coordination · Cloud-hosted managed solution only · Federal Engineering leads RFP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1521440" cy="105156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07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Strategic Objective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Cloud-hosted, fully managed NG911 solution — new vendor owns 100% end-to-end incident response. IS has zero 24/7 obligation. IS is not a 24/7 operation. New vendor handles all carrier and vendor escalations via letters of agency. IS is completely disengaged from the 911 incident response chain.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68580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31720"/>
            <a:ext cx="6858000" cy="384048"/>
          </a:xfrm>
          <a:prstGeom prst="rect">
            <a:avLst/>
          </a:prstGeom>
          <a:solidFill>
            <a:srgbClr val="0D5C54"/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915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6492240" cy="59436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620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07238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POTS/DID lines connect IS-managed Mitel to IS-managed Solacom — placing IS in the 911 incident response chain with no value add. 4 dedicated Mitel lines.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6492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7530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Direction Confirmed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78561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managed solution only. On-premise is off the table. FE (Federal Engineering) has been engaged.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42816"/>
            <a:ext cx="6492240" cy="594360"/>
          </a:xfrm>
          <a:prstGeom prst="roundRect">
            <a:avLst>
              <a:gd name="adj" fmla="val 9231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8853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Workshop (Next Step)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4988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RFP requirements workshop to be scheduled with FE. IS goal: Mitel disentanglement must be a SHALL requirement — not negotiable.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6492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0017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5212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program. FE schedule extends to 2027. No 2026 completion pressure — but RFP workshop is the near-term gate.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233172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331720"/>
            <a:ext cx="4754880" cy="384048"/>
          </a:xfrm>
          <a:prstGeom prst="rect">
            <a:avLst/>
          </a:prstGeom>
          <a:solidFill>
            <a:srgbClr val="0D5C54"/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359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PARTICIPANTS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43800" y="2816352"/>
            <a:ext cx="4480560" cy="521208"/>
          </a:xfrm>
          <a:prstGeom prst="roundRect">
            <a:avLst>
              <a:gd name="adj" fmla="val 1052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85292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Primary Rep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62672" y="301752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Alswager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62672" y="3163824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Principal Specialist. Former IS Network Mgr, PSAP background. Council technical watchdog in FE process.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43800" y="3429000"/>
            <a:ext cx="448056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3465576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Lead (Procurement)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62672" y="363016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Kensinger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62672" y="3776472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Contract Administrator, Regional Administration. Leads formal RFP advertisement + contract. Not IS Procurement.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43800" y="4041648"/>
            <a:ext cx="4480560" cy="521208"/>
          </a:xfrm>
          <a:prstGeom prst="roundRect">
            <a:avLst>
              <a:gd name="adj" fmla="val 1052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62672" y="4078224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62672" y="4242816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Stefanko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62672" y="4389120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IS Architecture (Triage team). Architecture review of NG911 solution. Workshop participant.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43800" y="4654296"/>
            <a:ext cx="448056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62672" y="469087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62672" y="4855464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Belland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62672" y="5001768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Manager. Oversees COOP program. NG911 must align with COOP standards.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543800" y="5266944"/>
            <a:ext cx="4480560" cy="521208"/>
          </a:xfrm>
          <a:prstGeom prst="roundRect">
            <a:avLst>
              <a:gd name="adj" fmla="val 1052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62672" y="530352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Project Manager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62672" y="546811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Tommy Thompson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62672" y="5614416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Engineering PM. IS PM's primary FE contact. Rob Jackson + Eric Parry as FE SMEs.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— IS PMO · Metropolitan Council · Metro Transit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DECISIONS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— Action Items and Decisions Required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EDFB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2529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63040" y="1225296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2344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124358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path and timeline confirmed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15179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Tina Folch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61120" y="1225296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2344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Mar 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469880" y="1225296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69880" y="12344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975104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02996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391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20299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0391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Expansion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0360" y="204825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endpoint resource — confirm who and when (Gretchen White agreed in principle)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23225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Gretchen White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61120" y="202996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20391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 22 SteerCo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69880" y="2029968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9880" y="20391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779776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FFF8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8346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437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463040" y="28346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28437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Expansion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0360" y="285292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30 EBC target — formal review with dependency chain at next SteerCo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80360" y="3127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IS PM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0" y="2834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28437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 22 SteerCo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469880" y="283464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69880" y="284378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584448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FFF8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63931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648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463040" y="363931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3648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80360" y="36576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resource for POC support — confirm assignment after Paul Burke meeting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80360" y="39319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IS PM + Paul Burke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961120" y="363931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0" y="36484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After Mar 30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469880" y="363931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69880" y="36484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4389120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444398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453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463040" y="4443984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63040" y="44531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Expansion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880360" y="446227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1007 power requirements to contractor — IS + IES both holding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880360" y="47365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Paul Burke + IES via Chad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961120" y="444398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61120" y="4453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ASAP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469880" y="4443984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69880" y="4453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5193792"/>
            <a:ext cx="11521440" cy="685800"/>
          </a:xfrm>
          <a:prstGeom prst="roundRect">
            <a:avLst>
              <a:gd name="adj" fmla="val 10667"/>
            </a:avLst>
          </a:prstGeom>
          <a:solidFill>
            <a:srgbClr val="EDFB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524865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57A3C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52578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463040" y="5248656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463040" y="52578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880360" y="52669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SteerCo cadence confirmed: monthly, third/fourth Wednesday. Next: April 22, 2026.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880360" y="55412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IS PM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961120" y="5248656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61120" y="52578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—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0469880" y="5248656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157A3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469880" y="52578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— IS PMO · Metropolitan Council · Metro Transit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and before April 22 SteerCo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703320" cy="4937760"/>
          </a:xfrm>
          <a:prstGeom prst="roundRect">
            <a:avLst>
              <a:gd name="adj" fmla="val 2469"/>
            </a:avLst>
          </a:prstGeom>
          <a:solidFill>
            <a:srgbClr val="0A2A5E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703320" cy="384048"/>
          </a:xfrm>
          <a:prstGeom prst="rect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361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66544"/>
            <a:ext cx="109728" cy="109728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3911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PM submits IS-to-IS service request for 3 eval PCs (2 Council/special-build + 1 LENS)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99923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72384"/>
            <a:ext cx="109728" cy="109728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449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Burke meeting Mar 30 — IS Infrastructure scope: network, voice, BCA, UPS, power specs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00507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78224"/>
            <a:ext cx="109728" cy="109728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50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NG911 weekly Mar 27 — confirm status, schedule deep-dive RFP workshop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1091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084064"/>
            <a:ext cx="109728" cy="109728"/>
          </a:xfrm>
          <a:prstGeom prst="ellipse">
            <a:avLst/>
          </a:prstGeom>
          <a:solidFill>
            <a:srgbClr val="0054A4"/>
          </a:solidFill>
          <a:ln w="12700">
            <a:solidFill>
              <a:srgbClr val="0054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566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TCC IS Portfolio Hub SharePoint site — send link to all SteerCo attendees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508760"/>
            <a:ext cx="3703320" cy="4937760"/>
          </a:xfrm>
          <a:prstGeom prst="roundRect">
            <a:avLst>
              <a:gd name="adj" fmla="val 2469"/>
            </a:avLst>
          </a:prstGeom>
          <a:solidFill>
            <a:srgbClr val="1A084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508760"/>
            <a:ext cx="370332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15361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53128" y="199339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2066544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03911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dedicated endpoint resource (Gretchen White — who and when)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53128" y="299923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072384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449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CR-T01 (Room 1007 network) as soon as power specs confirmed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53128" y="400507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4078224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050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Room 1007 gear: switches, firewall, UPS — do not wait for construction schedule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53128" y="501091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5084064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50566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 BCA design docs (IS Network produces, Eric Brown reviews)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1508760"/>
            <a:ext cx="3703320" cy="4937760"/>
          </a:xfrm>
          <a:prstGeom prst="roundRect">
            <a:avLst>
              <a:gd name="adj" fmla="val 2469"/>
            </a:avLst>
          </a:prstGeom>
          <a:solidFill>
            <a:srgbClr val="06302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1508760"/>
            <a:ext cx="37033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15361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22 SteerCo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39328" y="199339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206654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203911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30 EBC target — hard revised date with full dependency chain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39328" y="299923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307238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30449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VuWall BCA timeline acknowledgment (Jun/Jul, not May)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39328" y="400507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407822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4050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endpoint resource — confirmed assignment or agreed alternative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39328" y="501091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12480" y="50840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0" y="50566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NTP update from Robert Rimstad — initiate IS final-space planning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A55"/>
          </a:solidFill>
          <a:ln w="12700">
            <a:solidFill>
              <a:srgbClr val="002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6464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— IS PMO · Metropolitan Council · Metro Transit · Next SteerCo: April 22,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58400" y="6464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25,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TCC IS Projects — Steering Committee Kick Off</dc:subject>
  <dc:creator>PT (Ptahmes Tat-Siaka) — IS Senior PM / PMO</dc:creator>
  <cp:lastModifiedBy>PT (Ptahmes Tat-Siaka) — IS Senior PM / PMO</cp:lastModifiedBy>
  <cp:revision>1</cp:revision>
  <dcterms:created xsi:type="dcterms:W3CDTF">2026-03-27T16:48:24Z</dcterms:created>
  <dcterms:modified xsi:type="dcterms:W3CDTF">2026-03-27T16:48:24Z</dcterms:modified>
</cp:coreProperties>
</file>